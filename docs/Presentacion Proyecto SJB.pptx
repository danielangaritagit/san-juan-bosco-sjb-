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19"/>
  </p:handoutMasterIdLst>
  <p:sldIdLst>
    <p:sldId id="256" r:id="rId4"/>
    <p:sldId id="257" r:id="rId6"/>
    <p:sldId id="305" r:id="rId7"/>
    <p:sldId id="258" r:id="rId8"/>
    <p:sldId id="260" r:id="rId9"/>
    <p:sldId id="259" r:id="rId10"/>
    <p:sldId id="261" r:id="rId11"/>
    <p:sldId id="263" r:id="rId12"/>
    <p:sldId id="301" r:id="rId13"/>
    <p:sldId id="267" r:id="rId14"/>
    <p:sldId id="302" r:id="rId15"/>
    <p:sldId id="264" r:id="rId16"/>
    <p:sldId id="303" r:id="rId17"/>
    <p:sldId id="299" r:id="rId18"/>
  </p:sldIdLst>
  <p:sldSz cx="12192000" cy="6858000"/>
  <p:notesSz cx="6858000" cy="9144000"/>
  <p:embeddedFontLst>
    <p:embeddedFont>
      <p:font typeface="Calibri" panose="020F0502020204030204"/>
      <p:regular r:id="rId23"/>
    </p:embeddedFont>
    <p:embeddedFont>
      <p:font typeface="Work Sans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AB55A-B1F5-4627-ACB9-9CAF6953FE02}" type="datetimeFigureOut">
              <a:rPr lang="es-ES" smtClean="0"/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36336-248E-4E59-AA31-B189D85868DF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60f1b62ed2_0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g260f1b62ed2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0f1b62ed2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g260f1b62ed2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60f1b62ed2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g260f1b62ed2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60f1b62ed2_0_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g260f1b62ed2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60f1b62ed2_0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g260f1b62ed2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60f1b62ed2_0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g260f1b62ed2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60f1b62ed2_0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g260f1b62ed2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0f1b62ed2_0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g260f1b62ed2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0f1b62ed2_0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g260f1b62ed2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0f1b62ed2_0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g260f1b62ed2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3" name="Google Shape;4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2" descr="Patrón de fondo&#10;&#10;Descripción generada automáticamente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Diapositiva de título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ítulo y objetos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Encabezado de sección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os objetos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ción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6" name="Google Shape;46;p3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8" name="Google Shape;48;p3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Solo el título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En blanco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ido con título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n con título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ítulo y texto vertical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ítulo vertical y texto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En blanco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Diapositiva de título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5" name="Google Shape;10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ítulo y objetos">
  <p:cSld name="OBJEC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Encabezado de sección">
  <p:cSld name="SECTION_HEADER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7" name="Google Shape;11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os objetos">
  <p:cSld name="TWO_OBJECTS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ción">
  <p:cSld name="TWO_OBJECTS_WITH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130" name="Google Shape;130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132" name="Google Shape;132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Solo el título">
  <p:cSld name="TITLE_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ido con título">
  <p:cSld name="OBJECT_WITH_CAPTION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4" name="Google Shape;144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n con título">
  <p:cSld name="PICTURE_WITH_CAPTION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2" name="Google Shape;15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ítulo y texto vertical">
  <p:cSld name="VERTICAL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ítulo vertical y texto">
  <p:cSld name="VERTICAL_TITLE_AND_VERTICAL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4" name="Google Shape;9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5" name="Google Shape;9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6" name="Google Shape;9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7" name="Google Shape;9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</a:fld>
            <a:endParaRPr lang="es-CO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2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5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1.png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4.pn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/>
          <p:nvPr/>
        </p:nvSpPr>
        <p:spPr>
          <a:xfrm>
            <a:off x="1009394" y="2542578"/>
            <a:ext cx="9116241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lang="es-CO" sz="2600" b="1" dirty="0">
                <a:solidFill>
                  <a:schemeClr val="dk1"/>
                </a:solidFill>
                <a:highlight>
                  <a:srgbClr val="FBFBFB"/>
                </a:highlight>
              </a:rPr>
              <a:t>Presentación proyectos ADSO 2893733 - 2025</a:t>
            </a:r>
            <a:endParaRPr sz="57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" name="Google Shape;176;p2"/>
          <p:cNvSpPr txBox="1"/>
          <p:nvPr/>
        </p:nvSpPr>
        <p:spPr>
          <a:xfrm>
            <a:off x="1165860" y="4859020"/>
            <a:ext cx="9000490" cy="42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lang="es-MX" altLang="es-CO" sz="1800" b="1" dirty="0">
                <a:solidFill>
                  <a:schemeClr val="dk1"/>
                </a:solidFill>
                <a:highlight>
                  <a:srgbClr val="FBFBFB"/>
                </a:highlight>
              </a:rPr>
              <a:t>Realizado por Andrea Gabriela Jaimes Oviedo y Keiner Daniel Bautista Angarita</a:t>
            </a:r>
            <a:endParaRPr lang="es-MX" altLang="es-CO" sz="1800" b="1" i="0" u="none" strike="noStrike" cap="none" dirty="0">
              <a:solidFill>
                <a:schemeClr val="dk1"/>
              </a:solidFill>
              <a:highlight>
                <a:srgbClr val="FBFBFB"/>
              </a:highlight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/>
        </p:nvSpPr>
        <p:spPr>
          <a:xfrm>
            <a:off x="473381" y="417325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lang="es-MX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Tecnologias Usadas</a:t>
            </a:r>
            <a:endParaRPr lang="es-MX" sz="3400" b="1" dirty="0">
              <a:solidFill>
                <a:schemeClr val="dk1"/>
              </a:solidFill>
            </a:endParaRPr>
          </a:p>
        </p:txBody>
      </p:sp>
      <p:pic>
        <p:nvPicPr>
          <p:cNvPr id="8" name="Imagen 7"/>
          <p:cNvPicPr/>
          <p:nvPr/>
        </p:nvPicPr>
        <p:blipFill>
          <a:blip r:embed="rId2"/>
          <a:srcRect t="26588" b="31634"/>
          <a:stretch>
            <a:fillRect/>
          </a:stretch>
        </p:blipFill>
        <p:spPr>
          <a:xfrm>
            <a:off x="4370705" y="1919605"/>
            <a:ext cx="3449955" cy="1272540"/>
          </a:xfrm>
          <a:prstGeom prst="rect">
            <a:avLst/>
          </a:prstGeom>
        </p:spPr>
      </p:pic>
      <p:pic>
        <p:nvPicPr>
          <p:cNvPr id="11" name="Imagen 10"/>
          <p:cNvPicPr/>
          <p:nvPr/>
        </p:nvPicPr>
        <p:blipFill>
          <a:blip r:embed="rId3"/>
          <a:srcRect l="5800" t="25714" r="5393" b="25749"/>
          <a:stretch>
            <a:fillRect/>
          </a:stretch>
        </p:blipFill>
        <p:spPr>
          <a:xfrm>
            <a:off x="8863965" y="1919605"/>
            <a:ext cx="2304415" cy="1272540"/>
          </a:xfrm>
          <a:prstGeom prst="rect">
            <a:avLst/>
          </a:prstGeom>
        </p:spPr>
      </p:pic>
      <p:pic>
        <p:nvPicPr>
          <p:cNvPr id="14" name="Imagen 13"/>
          <p:cNvPicPr/>
          <p:nvPr/>
        </p:nvPicPr>
        <p:blipFill>
          <a:blip r:embed="rId4"/>
          <a:srcRect l="52326" t="46347"/>
          <a:stretch>
            <a:fillRect/>
          </a:stretch>
        </p:blipFill>
        <p:spPr>
          <a:xfrm>
            <a:off x="682625" y="4763135"/>
            <a:ext cx="2701925" cy="1315085"/>
          </a:xfrm>
          <a:prstGeom prst="rect">
            <a:avLst/>
          </a:prstGeom>
        </p:spPr>
      </p:pic>
      <p:pic>
        <p:nvPicPr>
          <p:cNvPr id="16" name="Imagen 15"/>
          <p:cNvPicPr/>
          <p:nvPr/>
        </p:nvPicPr>
        <p:blipFill>
          <a:blip r:embed="rId5"/>
          <a:stretch>
            <a:fillRect/>
          </a:stretch>
        </p:blipFill>
        <p:spPr>
          <a:xfrm>
            <a:off x="9024938" y="3838258"/>
            <a:ext cx="2143125" cy="2143125"/>
          </a:xfrm>
          <a:prstGeom prst="rect">
            <a:avLst/>
          </a:prstGeom>
        </p:spPr>
      </p:pic>
      <p:pic>
        <p:nvPicPr>
          <p:cNvPr id="17" name="Imagen 16"/>
          <p:cNvPicPr/>
          <p:nvPr/>
        </p:nvPicPr>
        <p:blipFill>
          <a:blip r:embed="rId6"/>
          <a:stretch>
            <a:fillRect/>
          </a:stretch>
        </p:blipFill>
        <p:spPr>
          <a:xfrm>
            <a:off x="421005" y="1726565"/>
            <a:ext cx="3255645" cy="1703070"/>
          </a:xfrm>
          <a:prstGeom prst="rect">
            <a:avLst/>
          </a:prstGeom>
        </p:spPr>
      </p:pic>
      <p:pic>
        <p:nvPicPr>
          <p:cNvPr id="18" name="Imagen 17"/>
          <p:cNvPicPr/>
          <p:nvPr/>
        </p:nvPicPr>
        <p:blipFill>
          <a:blip r:embed="rId4"/>
          <a:srcRect l="52326" t="-725" b="51010"/>
          <a:stretch>
            <a:fillRect/>
          </a:stretch>
        </p:blipFill>
        <p:spPr>
          <a:xfrm>
            <a:off x="4745355" y="4763135"/>
            <a:ext cx="2701925" cy="1218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/>
        </p:nvSpPr>
        <p:spPr>
          <a:xfrm>
            <a:off x="456236" y="416690"/>
            <a:ext cx="9815809" cy="527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 panose="020B0604020202020204"/>
              <a:buNone/>
            </a:pPr>
            <a:r>
              <a:rPr lang="es-CO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1. 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endParaRPr sz="3400" b="1" dirty="0">
              <a:solidFill>
                <a:schemeClr val="dk1"/>
              </a:solidFill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6096000" y="2290242"/>
            <a:ext cx="5043324" cy="2273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 panose="020B0604020202020204"/>
              <a:buNone/>
            </a:pPr>
            <a:r>
              <a:rPr lang="es-CO" sz="34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SISTEMA DE GESTIÓN </a:t>
            </a:r>
            <a:r>
              <a:rPr lang="es-MX" altLang="es-CO" sz="34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ACADEMICA </a:t>
            </a:r>
            <a:r>
              <a:rPr lang="es-CO" sz="340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DEL COLEGIO SAN JUAN BOSCO, GIRÓN</a:t>
            </a:r>
            <a:endParaRPr dirty="0"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07" y="1521279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0f1b62ed2_0_202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2.Necesidad del usuario</a:t>
            </a:r>
            <a:endParaRPr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endParaRPr sz="36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8" name="Google Shape;188;g260f1b62ed2_0_202"/>
          <p:cNvSpPr txBox="1"/>
          <p:nvPr/>
        </p:nvSpPr>
        <p:spPr>
          <a:xfrm>
            <a:off x="6373586" y="1687384"/>
            <a:ext cx="4876800" cy="38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CO" sz="2000" b="1" dirty="0">
                <a:latin typeface="+mj-lt"/>
                <a:ea typeface="Work Sans"/>
                <a:cs typeface="Work Sans"/>
                <a:sym typeface="Work Sans"/>
              </a:rPr>
              <a:t>Bajo las in</a:t>
            </a:r>
            <a:r>
              <a:rPr lang="es-MX" altLang="es-CO" sz="2000" b="1" dirty="0">
                <a:latin typeface="+mj-lt"/>
                <a:ea typeface="Work Sans"/>
                <a:cs typeface="Work Sans"/>
                <a:sym typeface="Work Sans"/>
              </a:rPr>
              <a:t>dicaciones</a:t>
            </a:r>
            <a:r>
              <a:rPr lang="es-CO" sz="2000" b="1" dirty="0">
                <a:latin typeface="+mj-lt"/>
                <a:ea typeface="Work Sans"/>
                <a:cs typeface="Work Sans"/>
                <a:sym typeface="Work Sans"/>
              </a:rPr>
              <a:t> del instructor Carlos Chaparro  se desarrollo el sistema de gestión institucional </a:t>
            </a:r>
            <a:r>
              <a:rPr lang="es-MX" altLang="es-CO" sz="2000" b="1" dirty="0">
                <a:latin typeface="+mj-lt"/>
                <a:ea typeface="Work Sans"/>
                <a:cs typeface="Work Sans"/>
                <a:sym typeface="Work Sans"/>
              </a:rPr>
              <a:t>hecho a la medida para </a:t>
            </a:r>
            <a:r>
              <a:rPr lang="es-CO" sz="2000" b="1" dirty="0">
                <a:latin typeface="+mj-lt"/>
                <a:ea typeface="Work Sans"/>
                <a:cs typeface="Work Sans"/>
                <a:sym typeface="Work Sans"/>
              </a:rPr>
              <a:t>san juan Bosco, en la que se  buscaba </a:t>
            </a:r>
            <a:r>
              <a:rPr lang="es-MX" altLang="es-CO" sz="2000" b="1" dirty="0">
                <a:latin typeface="+mj-lt"/>
                <a:ea typeface="Work Sans"/>
                <a:cs typeface="Work Sans"/>
                <a:sym typeface="Work Sans"/>
              </a:rPr>
              <a:t>optimizar y digitalizar</a:t>
            </a:r>
            <a:r>
              <a:rPr lang="es-CO" sz="2000" b="1" dirty="0">
                <a:latin typeface="+mj-lt"/>
                <a:ea typeface="Work Sans"/>
                <a:cs typeface="Work Sans"/>
                <a:sym typeface="Work Sans"/>
              </a:rPr>
              <a:t> </a:t>
            </a:r>
            <a:r>
              <a:rPr lang="es-MX" altLang="es-CO" sz="2000" b="1" dirty="0">
                <a:latin typeface="+mj-lt"/>
                <a:ea typeface="Work Sans"/>
                <a:cs typeface="Work Sans"/>
                <a:sym typeface="Work Sans"/>
              </a:rPr>
              <a:t>procesos academicos</a:t>
            </a:r>
            <a:r>
              <a:rPr lang="es-CO" sz="2000" b="1" dirty="0">
                <a:latin typeface="+mj-lt"/>
                <a:ea typeface="Work Sans"/>
                <a:cs typeface="Work Sans"/>
                <a:sym typeface="Work Sans"/>
              </a:rPr>
              <a:t>. Este sistema fue diseñado desde cero para abordar los desafíos que se presentaban. Desde los requerimientos particulares de almacenamiento, gestión de notas y datos se presenta la organización del cliente.</a:t>
            </a:r>
            <a:endParaRPr sz="2000" b="1" dirty="0">
              <a:latin typeface="+mj-lt"/>
              <a:ea typeface="Work Sans"/>
              <a:cs typeface="Work Sans"/>
              <a:sym typeface="Work San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14" y="1545460"/>
            <a:ext cx="4054929" cy="4895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0f1b62ed2_0_81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3. Requerimientos</a:t>
            </a:r>
            <a:endParaRPr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endParaRPr sz="36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3" name="Google Shape;203;g260f1b62ed2_0_81"/>
          <p:cNvSpPr txBox="1"/>
          <p:nvPr/>
        </p:nvSpPr>
        <p:spPr>
          <a:xfrm>
            <a:off x="7357110" y="4850765"/>
            <a:ext cx="4290695" cy="1688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dirty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Los requerimientos de este </a:t>
            </a:r>
            <a:r>
              <a:rPr lang="es-CO" sz="1600" b="1" dirty="0" err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sofware</a:t>
            </a:r>
            <a:r>
              <a:rPr lang="es-CO" sz="1600" b="1" dirty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se identificaron, categorizaron y asignaron a los distintos módulos generados del sistema, estableciendo en si una distinción de sus módulos y requerimientos funcionales y los no funcionales . </a:t>
            </a:r>
            <a:endParaRPr lang="es-CO" sz="1600" b="1" dirty="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10" y="1370834"/>
            <a:ext cx="6529539" cy="548716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234" y="1510747"/>
            <a:ext cx="5219456" cy="31219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60f1b62ed2_0_70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4. Modelo de datos</a:t>
            </a:r>
            <a:endParaRPr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endParaRPr sz="36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6" name="Google Shape;196;g260f1b62ed2_0_70"/>
          <p:cNvSpPr txBox="1"/>
          <p:nvPr/>
        </p:nvSpPr>
        <p:spPr>
          <a:xfrm>
            <a:off x="6583365" y="2327176"/>
            <a:ext cx="4772565" cy="264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CO" sz="2000" dirty="0">
                <a:latin typeface="Work Sans"/>
                <a:ea typeface="Work Sans"/>
                <a:cs typeface="Work Sans"/>
                <a:sym typeface="Work Sans"/>
              </a:rPr>
              <a:t>El modelo implementado consta de 2</a:t>
            </a:r>
            <a:r>
              <a:rPr lang="es-MX" altLang="es-CO" sz="2000" dirty="0">
                <a:latin typeface="Work Sans"/>
                <a:ea typeface="Work Sans"/>
                <a:cs typeface="Work Sans"/>
                <a:sym typeface="Work Sans"/>
              </a:rPr>
              <a:t>4 </a:t>
            </a:r>
            <a:r>
              <a:rPr lang="es-CO" sz="2000" dirty="0">
                <a:latin typeface="Work Sans"/>
                <a:ea typeface="Work Sans"/>
                <a:cs typeface="Work Sans"/>
                <a:sym typeface="Work Sans"/>
              </a:rPr>
              <a:t>tablas principales en </a:t>
            </a:r>
            <a:r>
              <a:rPr lang="es-CO" sz="2000" dirty="0" err="1">
                <a:latin typeface="Work Sans"/>
                <a:ea typeface="Work Sans"/>
                <a:cs typeface="Work Sans"/>
                <a:sym typeface="Work Sans"/>
              </a:rPr>
              <a:t>PostgreSQL</a:t>
            </a:r>
            <a:r>
              <a:rPr lang="es-CO" sz="2000" dirty="0">
                <a:latin typeface="Work Sans"/>
                <a:ea typeface="Work Sans"/>
                <a:cs typeface="Work Sans"/>
                <a:sym typeface="Work Sans"/>
              </a:rPr>
              <a:t> que conforma la estructura del sistema de gestión institucional de san juan </a:t>
            </a:r>
            <a:r>
              <a:rPr lang="es-CO" sz="2000" dirty="0" err="1">
                <a:latin typeface="Work Sans"/>
                <a:ea typeface="Work Sans"/>
                <a:cs typeface="Work Sans"/>
                <a:sym typeface="Work Sans"/>
              </a:rPr>
              <a:t>bosco</a:t>
            </a:r>
            <a:r>
              <a:rPr lang="es-CO" sz="2000" dirty="0">
                <a:latin typeface="Work Sans"/>
                <a:ea typeface="Work Sans"/>
                <a:cs typeface="Work Sans"/>
                <a:sym typeface="Work Sans"/>
              </a:rPr>
              <a:t>. Cuenta con roles de usuarios, registro de nuevos usuarios, registro de acceso, datos personales y tokens de verificación</a:t>
            </a:r>
            <a:r>
              <a:rPr lang="es-MX" altLang="es-CO" sz="2000" dirty="0"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lang="es-MX" altLang="es-CO" sz="2000" dirty="0"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00" y="1917538"/>
            <a:ext cx="3748086" cy="4082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0f1b62ed2_0_77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4. Modelo de datos </a:t>
            </a:r>
            <a:endParaRPr sz="600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endParaRPr sz="36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0" name="Google Shape;210;g260f1b62ed2_0_77"/>
          <p:cNvSpPr txBox="1"/>
          <p:nvPr/>
        </p:nvSpPr>
        <p:spPr>
          <a:xfrm>
            <a:off x="6842589" y="1639436"/>
            <a:ext cx="4578849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s-CO" sz="2400" dirty="0">
                <a:latin typeface="+mn-lt"/>
                <a:ea typeface="Work Sans"/>
                <a:cs typeface="Work Sans"/>
                <a:sym typeface="Work Sans"/>
              </a:rPr>
              <a:t>El diseño incorpora campos de notas, mas de 11 índices de optimización de consultas,  6 </a:t>
            </a:r>
            <a:r>
              <a:rPr lang="es-CO" sz="2400" dirty="0" err="1">
                <a:latin typeface="+mn-lt"/>
                <a:ea typeface="Work Sans"/>
                <a:cs typeface="Work Sans"/>
                <a:sym typeface="Work Sans"/>
              </a:rPr>
              <a:t>indexs</a:t>
            </a:r>
            <a:r>
              <a:rPr lang="es-CO" sz="2400" dirty="0">
                <a:latin typeface="+mn-lt"/>
                <a:ea typeface="Work Sans"/>
                <a:cs typeface="Work Sans"/>
                <a:sym typeface="Work Sans"/>
              </a:rPr>
              <a:t>, para la optimización de procesos, y restricciones de </a:t>
            </a:r>
            <a:r>
              <a:rPr lang="es-CO" sz="2400" dirty="0" err="1">
                <a:latin typeface="+mn-lt"/>
                <a:ea typeface="Work Sans"/>
                <a:cs typeface="Work Sans"/>
                <a:sym typeface="Work Sans"/>
              </a:rPr>
              <a:t>identidada</a:t>
            </a:r>
            <a:r>
              <a:rPr lang="es-CO" sz="2400" dirty="0">
                <a:latin typeface="+mn-lt"/>
                <a:ea typeface="Work Sans"/>
                <a:cs typeface="Work Sans"/>
                <a:sym typeface="Work Sans"/>
              </a:rPr>
              <a:t> referencial que garantizan la consistencia de </a:t>
            </a:r>
            <a:r>
              <a:rPr lang="es-CO" sz="2400">
                <a:latin typeface="+mn-lt"/>
                <a:ea typeface="Work Sans"/>
                <a:cs typeface="Work Sans"/>
                <a:sym typeface="Work Sans"/>
              </a:rPr>
              <a:t>los datos </a:t>
            </a:r>
            <a:r>
              <a:rPr lang="es-CO" sz="2400" dirty="0">
                <a:latin typeface="+mn-lt"/>
                <a:ea typeface="Work Sans"/>
                <a:cs typeface="Work Sans"/>
                <a:sym typeface="Work Sans"/>
              </a:rPr>
              <a:t>y soportan totalmente todas las funcionalidades requeridas en el sistema.</a:t>
            </a:r>
            <a:endParaRPr sz="2400" dirty="0">
              <a:latin typeface="+mn-lt"/>
              <a:ea typeface="Work Sans"/>
              <a:cs typeface="Work Sans"/>
              <a:sym typeface="Work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11" y="1283304"/>
            <a:ext cx="5328115" cy="263114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11" y="3719051"/>
            <a:ext cx="5328115" cy="277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2" name="Rectangle 2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Google Shape;224;g260f1b62ed2_0_118"/>
          <p:cNvSpPr txBox="1"/>
          <p:nvPr/>
        </p:nvSpPr>
        <p:spPr>
          <a:xfrm>
            <a:off x="6381913" y="2713761"/>
            <a:ext cx="5334930" cy="300414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Work Sans"/>
              </a:rPr>
              <a:t>5. </a:t>
            </a:r>
            <a:r>
              <a:rPr lang="en-US" sz="4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Arquitectura</a:t>
            </a:r>
            <a:r>
              <a:rPr lang="en-US" sz="4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Backend: </a:t>
            </a:r>
            <a:r>
              <a:rPr lang="en-US" sz="4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</a:t>
            </a:r>
            <a:r>
              <a:rPr lang="en-US" sz="4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-Vista-</a:t>
            </a:r>
            <a:r>
              <a:rPr lang="en-US" sz="4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Controlador</a:t>
            </a:r>
            <a:r>
              <a:rPr lang="en-US" sz="4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(MVC)</a:t>
            </a:r>
            <a:endParaRPr lang="en-US" sz="47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700" b="1" u="sng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FFFFFF"/>
              </a:buClr>
              <a:buSzPts val="3600"/>
            </a:pPr>
            <a:endParaRPr lang="en-US" sz="47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Work Sans"/>
            </a:endParaRPr>
          </a:p>
        </p:txBody>
      </p:sp>
      <p:sp>
        <p:nvSpPr>
          <p:cNvPr id="231" name="Freeform: Shape 2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3" name="Freeform: Shape 2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5" name="Freeform: Shape 2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7" name="Freeform: Shape 2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9" name="Freeform: Shape 2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41" name="Freeform: Shape 2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2573348" y="2513591"/>
            <a:ext cx="1658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dirty="0" err="1"/>
              <a:t>Tab_calificaciones</a:t>
            </a:r>
            <a:endParaRPr lang="es-CO" sz="1000" dirty="0"/>
          </a:p>
          <a:p>
            <a:r>
              <a:rPr lang="es-CO" sz="1000" dirty="0" err="1"/>
              <a:t>Fun_calificaciones</a:t>
            </a:r>
            <a:endParaRPr lang="es-CO" sz="1000" dirty="0"/>
          </a:p>
        </p:txBody>
      </p:sp>
      <p:sp>
        <p:nvSpPr>
          <p:cNvPr id="4" name="CuadroTexto 3"/>
          <p:cNvSpPr txBox="1"/>
          <p:nvPr/>
        </p:nvSpPr>
        <p:spPr>
          <a:xfrm>
            <a:off x="1409307" y="3908056"/>
            <a:ext cx="146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 err="1"/>
              <a:t>get_calificaciones_recientes.php</a:t>
            </a:r>
            <a:endParaRPr lang="es-CO" sz="1000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3588179" y="3908056"/>
            <a:ext cx="1522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dirty="0" err="1"/>
              <a:t>get_rendimiento</a:t>
            </a:r>
            <a:r>
              <a:rPr lang="es-CO" sz="1000" dirty="0"/>
              <a:t> </a:t>
            </a:r>
            <a:r>
              <a:rPr lang="es-CO" sz="1000" dirty="0" err="1"/>
              <a:t>estudiante.php</a:t>
            </a:r>
            <a:endParaRPr lang="es-CO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0f1b62ed2_0_118"/>
          <p:cNvSpPr txBox="1"/>
          <p:nvPr/>
        </p:nvSpPr>
        <p:spPr>
          <a:xfrm>
            <a:off x="250754" y="273118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CO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5. </a:t>
            </a:r>
            <a:r>
              <a:rPr lang="es-CO" sz="2800" b="1" dirty="0"/>
              <a:t>Arquitectura </a:t>
            </a:r>
            <a:r>
              <a:rPr lang="es-CO" sz="2800" b="1" dirty="0" err="1"/>
              <a:t>Backend</a:t>
            </a:r>
            <a:r>
              <a:rPr lang="es-CO" sz="2800" b="1" dirty="0"/>
              <a:t>: Modelo-Vista-Controlador (MVC)</a:t>
            </a:r>
            <a:endParaRPr sz="28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endParaRPr sz="36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369870" y="1592494"/>
            <a:ext cx="2887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OBTENER USUARIOS </a:t>
            </a:r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0" y="2281575"/>
            <a:ext cx="6087554" cy="426864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614499"/>
            <a:ext cx="5449124" cy="23493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60f1b62ed2_0_150"/>
          <p:cNvSpPr txBox="1"/>
          <p:nvPr/>
        </p:nvSpPr>
        <p:spPr>
          <a:xfrm>
            <a:off x="481636" y="416565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 panose="020B0604020202020204"/>
              <a:buNone/>
            </a:pPr>
            <a:r>
              <a:rPr lang="es-CO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6. Listado de transacciones</a:t>
            </a:r>
            <a:endParaRPr sz="3400" b="1" dirty="0">
              <a:solidFill>
                <a:schemeClr val="dk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0" y="1733313"/>
            <a:ext cx="10355120" cy="48960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60f1b62ed2_0_12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7. TESTING</a:t>
            </a:r>
            <a:endParaRPr sz="60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endParaRPr sz="36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814" y="2068918"/>
            <a:ext cx="3292552" cy="4639832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 rot="16200000">
            <a:off x="9084872" y="4136572"/>
            <a:ext cx="4049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          PRUEBAS    DE   CAJA    NEGRA</a:t>
            </a:r>
            <a:endParaRPr lang="es-CO" b="1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685" y="1881484"/>
            <a:ext cx="3095919" cy="4559826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 rot="16200000">
            <a:off x="-200714" y="4007508"/>
            <a:ext cx="4049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          PRUEBAS    DE   CAJA    BLANCA </a:t>
            </a:r>
            <a:endParaRPr lang="es-CO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60f1b62ed2_0_12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7. FROTEND</a:t>
            </a:r>
            <a:endParaRPr sz="60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endParaRPr sz="36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22" y="1366837"/>
            <a:ext cx="4810125" cy="48863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60f1b62ed2_0_128"/>
          <p:cNvSpPr txBox="1"/>
          <p:nvPr/>
        </p:nvSpPr>
        <p:spPr>
          <a:xfrm>
            <a:off x="456236" y="416690"/>
            <a:ext cx="98157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7. FROTEND</a:t>
            </a:r>
            <a:endParaRPr sz="60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endParaRPr sz="3600" b="1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1022985" y="1922145"/>
            <a:ext cx="3742690" cy="1163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CO" sz="1800" b="1" dirty="0" err="1"/>
              <a:t>Admin</a:t>
            </a:r>
            <a:r>
              <a:rPr lang="es-MX" altLang="es-CO" sz="1800" b="1" dirty="0" err="1"/>
              <a:t>:</a:t>
            </a:r>
            <a:endParaRPr lang="es-CO" sz="1800" b="1" dirty="0"/>
          </a:p>
          <a:p>
            <a:endParaRPr lang="es-CO" sz="1800" b="1" dirty="0"/>
          </a:p>
          <a:p>
            <a:r>
              <a:rPr lang="es-CO" sz="1800" b="1" dirty="0"/>
              <a:t>Usuario: </a:t>
            </a:r>
            <a:r>
              <a:rPr lang="en-US" altLang="es-MX" sz="1800" dirty="0"/>
              <a:t>anonimoadmin</a:t>
            </a:r>
            <a:endParaRPr lang="en-US" altLang="es-MX" sz="1800" b="1" dirty="0"/>
          </a:p>
          <a:p>
            <a:r>
              <a:rPr lang="es-CO" sz="1800" b="1" dirty="0"/>
              <a:t>Contraseña: </a:t>
            </a:r>
            <a:r>
              <a:rPr lang="en-US" altLang="es-MX" sz="1800" dirty="0"/>
              <a:t>AnanonimoadminAd</a:t>
            </a:r>
            <a:r>
              <a:rPr lang="en-US" altLang="es-MX" sz="1800" b="1" dirty="0"/>
              <a:t>.</a:t>
            </a:r>
            <a:endParaRPr lang="en-US" altLang="es-MX" sz="1800" b="1" dirty="0"/>
          </a:p>
        </p:txBody>
      </p:sp>
      <p:sp>
        <p:nvSpPr>
          <p:cNvPr id="2" name="CuadroTexto 3"/>
          <p:cNvSpPr txBox="1"/>
          <p:nvPr/>
        </p:nvSpPr>
        <p:spPr>
          <a:xfrm>
            <a:off x="6862445" y="2001520"/>
            <a:ext cx="4137025" cy="1171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MX" altLang="es-CO" sz="1800" b="1" dirty="0" err="1"/>
              <a:t>Estudiante:</a:t>
            </a:r>
            <a:endParaRPr lang="es-CO" sz="1800" b="1" dirty="0"/>
          </a:p>
          <a:p>
            <a:endParaRPr lang="es-CO" sz="1800" b="1" dirty="0"/>
          </a:p>
          <a:p>
            <a:r>
              <a:rPr lang="es-CO" sz="1800" b="1" dirty="0"/>
              <a:t>Usuario: </a:t>
            </a:r>
            <a:r>
              <a:rPr lang="en-US" altLang="es-MX" sz="1800" dirty="0"/>
              <a:t>anonimoestudiante</a:t>
            </a:r>
            <a:endParaRPr lang="en-US" altLang="es-MX" sz="1800" b="1" dirty="0"/>
          </a:p>
          <a:p>
            <a:r>
              <a:rPr lang="es-CO" sz="1800" b="1" dirty="0"/>
              <a:t>Contraseña: </a:t>
            </a:r>
            <a:r>
              <a:rPr lang="en-US" altLang="es-MX" sz="1800" dirty="0"/>
              <a:t>AnanonimoestudianteEs.</a:t>
            </a:r>
            <a:endParaRPr lang="en-US" altLang="es-MX" sz="1800" dirty="0"/>
          </a:p>
        </p:txBody>
      </p:sp>
      <p:sp>
        <p:nvSpPr>
          <p:cNvPr id="3" name="CuadroTexto 3"/>
          <p:cNvSpPr txBox="1"/>
          <p:nvPr/>
        </p:nvSpPr>
        <p:spPr>
          <a:xfrm>
            <a:off x="1022985" y="4163695"/>
            <a:ext cx="3888105" cy="1207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MX" altLang="es-CO" sz="1800" b="1" dirty="0" err="1"/>
              <a:t>Profesor:</a:t>
            </a:r>
            <a:endParaRPr lang="es-CO" sz="1800" b="1" dirty="0"/>
          </a:p>
          <a:p>
            <a:endParaRPr lang="es-CO" sz="1800" b="1" dirty="0"/>
          </a:p>
          <a:p>
            <a:r>
              <a:rPr lang="es-CO" sz="1800" b="1" dirty="0"/>
              <a:t>Usuario: </a:t>
            </a:r>
            <a:r>
              <a:rPr lang="en-US" altLang="es-MX" sz="1800" dirty="0"/>
              <a:t>anonimoprofesor</a:t>
            </a:r>
            <a:endParaRPr lang="en-US" altLang="es-MX" sz="1800" b="1" dirty="0"/>
          </a:p>
          <a:p>
            <a:r>
              <a:rPr lang="es-CO" sz="1800" b="1" dirty="0"/>
              <a:t>Contraseña: </a:t>
            </a:r>
            <a:r>
              <a:rPr lang="en-US" altLang="es-MX" sz="1800" dirty="0"/>
              <a:t>AnanonimoprofesorPr.</a:t>
            </a:r>
            <a:endParaRPr lang="en-US" altLang="es-MX" sz="1800" dirty="0"/>
          </a:p>
        </p:txBody>
      </p:sp>
      <p:sp>
        <p:nvSpPr>
          <p:cNvPr id="5" name="CuadroTexto 3"/>
          <p:cNvSpPr txBox="1"/>
          <p:nvPr/>
        </p:nvSpPr>
        <p:spPr>
          <a:xfrm>
            <a:off x="6862445" y="4163695"/>
            <a:ext cx="4050665" cy="1148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MX" altLang="es-CO" sz="1800" b="1" dirty="0" err="1"/>
              <a:t>Acudiente:</a:t>
            </a:r>
            <a:endParaRPr lang="es-CO" sz="1800" b="1" dirty="0"/>
          </a:p>
          <a:p>
            <a:endParaRPr lang="es-CO" sz="1800" b="1" dirty="0"/>
          </a:p>
          <a:p>
            <a:r>
              <a:rPr lang="es-CO" sz="1800" b="1" dirty="0"/>
              <a:t>Usuario:</a:t>
            </a:r>
            <a:r>
              <a:rPr lang="es-MX" altLang="es-CO" sz="1800" b="1" dirty="0"/>
              <a:t> </a:t>
            </a:r>
            <a:r>
              <a:rPr lang="en-US" altLang="es-MX" sz="1800" dirty="0"/>
              <a:t>anonimoacudiente</a:t>
            </a:r>
            <a:endParaRPr lang="en-US" altLang="es-MX" sz="1800" b="1" dirty="0"/>
          </a:p>
          <a:p>
            <a:r>
              <a:rPr lang="es-CO" sz="1800" b="1" dirty="0"/>
              <a:t>Contraseña: </a:t>
            </a:r>
            <a:r>
              <a:rPr lang="en-US" altLang="es-MX" sz="1800" dirty="0"/>
              <a:t>AnanonimoacudienteAc.</a:t>
            </a:r>
            <a:endParaRPr lang="en-US" altLang="es-MX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2106</Words>
  <Application>WPS Presentation</Application>
  <PresentationFormat>Panorámica</PresentationFormat>
  <Paragraphs>88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Work Sans</vt:lpstr>
      <vt:lpstr>Microsoft YaHei</vt:lpstr>
      <vt:lpstr>Arial Unicode MS</vt:lpstr>
      <vt:lpstr>1_Tema de Office</vt:lpstr>
      <vt:lpstr>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Enrique Pedraza Sanchez</dc:creator>
  <cp:lastModifiedBy>Daniel Angarita</cp:lastModifiedBy>
  <cp:revision>19</cp:revision>
  <dcterms:created xsi:type="dcterms:W3CDTF">2020-10-01T23:51:00Z</dcterms:created>
  <dcterms:modified xsi:type="dcterms:W3CDTF">2025-09-22T05:06:31Z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ICV">
    <vt:lpwstr>114C00E2BE8A4E2BB62584A036E07F1A_12</vt:lpwstr>
  </property>
  <property fmtid="{D5CDD505-2E9C-101B-9397-08002B2CF9AE}" pid="10" name="KSOProductBuildVer">
    <vt:lpwstr>2058-12.2.0.22549</vt:lpwstr>
  </property>
</Properties>
</file>